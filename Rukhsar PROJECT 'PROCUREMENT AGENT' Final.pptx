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17464523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1746452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8791a2deb_0_1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8791a2deb_0_1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SLIDES_API117464523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SLIDES_API117464523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8791a2deb_0_1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8791a2deb_0_1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S_API117464523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SLIDES_API117464523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S_API117464523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S_API117464523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S_API117464523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S_API117464523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LIDES_API117464523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LIDES_API117464523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LIDES_API117464523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LIDES_API117464523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S_API117464523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S_API117464523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IDES_API117464523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IDES_API117464523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8791a2deb_0_1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8791a2deb_0_1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791a2deb_0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791a2deb_0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8791a2deb_0_1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8791a2deb_0_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791a2deb_0_1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8791a2deb_0_1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SLIDES_API117464523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SLIDES_API117464523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8791a2deb_0_1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8791a2deb_0_1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SLIDES_API117464523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SLIDES_API117464523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SLIDES_API117464523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SLIDES_API117464523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SLIDES_API117464523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SLIDES_API117464523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SLIDES_API117464523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SLIDES_API117464523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8791a2deb_0_1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8791a2deb_0_1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8791a2deb_0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8791a2deb_0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LIDES_API117464523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SLIDES_API117464523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SLIDES_API117464523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SLIDES_API117464523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SLIDES_API117464523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SLIDES_API117464523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SLIDES_API117464523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SLIDES_API117464523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SLIDES_API117464523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SLIDES_API117464523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SLIDES_API117464523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SLIDES_API117464523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SLIDES_API117464523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SLIDES_API117464523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PROJECT 'PROCUREMENT AI AGENT'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ABU DHABI AI FACTORY STRATEGIC IMPLEMENTATION</a:t>
            </a:r>
            <a:endParaRPr b="1"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Timeline:</a:t>
            </a:r>
            <a:r>
              <a:rPr lang="en" sz="1400">
                <a:solidFill>
                  <a:srgbClr val="333333"/>
                </a:solidFill>
              </a:rPr>
              <a:t> April 1, 2025 – March 31, 2026 </a:t>
            </a:r>
            <a:r>
              <a:rPr b="1" lang="en" sz="1400">
                <a:solidFill>
                  <a:srgbClr val="333333"/>
                </a:solidFill>
              </a:rPr>
              <a:t>(Assumption)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TPM Office: </a:t>
            </a:r>
            <a:r>
              <a:rPr lang="en" sz="1400">
                <a:solidFill>
                  <a:srgbClr val="333333"/>
                </a:solidFill>
              </a:rPr>
              <a:t>Rukhsar Ahmad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Core Delivery Scope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08000" y="718925"/>
            <a:ext cx="8636100" cy="4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Intelligent Automation: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End-to-end automation of RFP Creation and Technical Evaluation workflows.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Deployment of Sourcing AI Agents to autonomously identify and optimize procurement paths.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System Ecosystem: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Deep integration with Oracle Fusion ERP for real-time data synchronization.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Sovereign Cloud architecture ensuring 100% data residency and security.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Localized Excellence: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Full Bilingual Support (Arabic &amp; English) for all AI-generated legal and technical documents.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Purpose-built models for Abu Dhabi Legal Compliance and audit-readiness.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Strategic Insights:</a:t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Real-time Analytics dashboard for monitoring vendor performance.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An AI-driven Recommendation Engine for data-backed vendor selection.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Out-of-Scope:</a:t>
            </a:r>
            <a:r>
              <a:rPr lang="en" sz="1100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Direct financial disbursement (payments) remains a manual function to maintain internal financial controls.</a:t>
            </a:r>
            <a:endParaRPr sz="15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Strategic Vision &amp; Mandate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Objective: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Deploy a Sovereign AI Agent to 15+ Abu Dhabi entities.</a:t>
            </a:r>
            <a:endParaRPr sz="13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Efficiency(KPI):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70% reduction in RFP drafting time; 98% document accuracy, 50% decrease in procurement cycle time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ROI: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Targeted AED 5M annual savings through process automation.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Data Sovereignty: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100% Data Residency in Azure UAE North.</a:t>
            </a:r>
            <a:endParaRPr sz="1300">
              <a:solidFill>
                <a:srgbClr val="333333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831675" y="250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Part A: Project Planning and Strategy</a:t>
            </a:r>
            <a:endParaRPr b="1"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Master Roadmap: April 2025 - March 2026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508000" y="1270000"/>
            <a:ext cx="8636100" cy="3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Q2 2025: </a:t>
            </a:r>
            <a:r>
              <a:rPr lang="en" sz="1400">
                <a:solidFill>
                  <a:srgbClr val="333333"/>
                </a:solidFill>
              </a:rPr>
              <a:t>Mobilization, Infra setup, and 20% Data Cleansing Sprints.</a:t>
            </a:r>
            <a:endParaRPr sz="1400">
              <a:solidFill>
                <a:srgbClr val="333333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Q3 2025: </a:t>
            </a:r>
            <a:r>
              <a:rPr lang="en" sz="1400">
                <a:solidFill>
                  <a:srgbClr val="333333"/>
                </a:solidFill>
              </a:rPr>
              <a:t>RAG Engine Development and Pilot UAT (Phase 1 Build).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Phase 1 (Visibility - Oct '25): GITEX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Launch MVP at GITEX. Build trust and political capital with a high-impact demo.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Phase 2 (Connectivity - Dec '25): INTEGRATION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Deep technical integration. Bi-directional sync with Oracle Fusion ERP.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Phase 3 (Excellence - Mar '26): Go-Live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Full entity onboarding. Final Arabic legal tuning and security hardening.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Logic: </a:t>
            </a:r>
            <a:r>
              <a:rPr lang="en" sz="1400">
                <a:solidFill>
                  <a:srgbClr val="333333"/>
                </a:solidFill>
              </a:rPr>
              <a:t>Phasing de-risks the project by securing early executive buy-in.</a:t>
            </a:r>
            <a:endParaRPr sz="1400">
              <a:solidFill>
                <a:srgbClr val="333333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Unified Squad Structure (12 FTE)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508000" y="981350"/>
            <a:ext cx="8255100" cy="4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Leadership (Shared):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TPM</a:t>
            </a:r>
            <a:r>
              <a:rPr lang="en" sz="1400">
                <a:solidFill>
                  <a:schemeClr val="dk1"/>
                </a:solidFill>
              </a:rPr>
              <a:t> (Program Governance/Risk) and Product Owner (</a:t>
            </a:r>
            <a:r>
              <a:rPr b="1" lang="en" sz="1400">
                <a:solidFill>
                  <a:schemeClr val="dk1"/>
                </a:solidFill>
              </a:rPr>
              <a:t>PO</a:t>
            </a:r>
            <a:r>
              <a:rPr lang="en" sz="1400">
                <a:solidFill>
                  <a:schemeClr val="dk1"/>
                </a:solidFill>
              </a:rPr>
              <a:t>) (Value/Backlog Prioritization).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Shared Services: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Business Analyst (BA)</a:t>
            </a:r>
            <a:r>
              <a:rPr lang="en" sz="1400">
                <a:solidFill>
                  <a:schemeClr val="dk1"/>
                </a:solidFill>
              </a:rPr>
              <a:t> – Gathering and data labeling for the 20% quality gap.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Squad Alpha (Intelligence - 4 FTE):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Team: </a:t>
            </a:r>
            <a:r>
              <a:rPr lang="en" sz="1400">
                <a:solidFill>
                  <a:srgbClr val="333333"/>
                </a:solidFill>
              </a:rPr>
              <a:t>1 Tech Lead, 3 ML/Data Engineers.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Focus: </a:t>
            </a:r>
            <a:r>
              <a:rPr lang="en" sz="1400">
                <a:solidFill>
                  <a:srgbClr val="333333"/>
                </a:solidFill>
              </a:rPr>
              <a:t>RAG pipeline, Model fine-tuning, and Data Cleansing.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Squad</a:t>
            </a:r>
            <a:r>
              <a:rPr b="1" lang="en" sz="1400">
                <a:solidFill>
                  <a:srgbClr val="333333"/>
                </a:solidFill>
              </a:rPr>
              <a:t> Beta</a:t>
            </a:r>
            <a:r>
              <a:rPr b="1" lang="en" sz="1400">
                <a:solidFill>
                  <a:srgbClr val="333333"/>
                </a:solidFill>
              </a:rPr>
              <a:t> (Platform - 5 FTE):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Team: </a:t>
            </a:r>
            <a:r>
              <a:rPr lang="en" sz="1400">
                <a:solidFill>
                  <a:srgbClr val="333333"/>
                </a:solidFill>
              </a:rPr>
              <a:t>3 Backend Devs, 1 UI/UX Designer, 1 QA Engineer.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Focus: </a:t>
            </a:r>
            <a:r>
              <a:rPr lang="en" sz="1400">
                <a:solidFill>
                  <a:srgbClr val="333333"/>
                </a:solidFill>
              </a:rPr>
              <a:t>Oracle Integration, UI, and Security.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Project Methodology - Hybrid Approach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89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 Waterfall Layer: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Applied to Infrastructure Set-up, Data Sovereignty Sign-offs, and Security Audits (Fixed timelines/compliance).</a:t>
            </a:r>
            <a:endParaRPr>
              <a:solidFill>
                <a:schemeClr val="dk1"/>
              </a:solidFill>
            </a:endParaRPr>
          </a:p>
          <a:p>
            <a:pPr indent="-88900" lvl="0" marL="228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 Agile Layer (Scrum):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Applied to AI/UI development. 2-week Sprints for iterative feature building and rapid testing.</a:t>
            </a:r>
            <a:endParaRPr sz="1400">
              <a:solidFill>
                <a:schemeClr val="dk1"/>
              </a:solidFill>
            </a:endParaRPr>
          </a:p>
          <a:p>
            <a:pPr indent="-88900" lvl="0" marL="228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 UAT &amp; Deployment: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4 weeks of formal UAT with Pilot Entities before Gitex; Blue-Green deployment strategy to ensure zero-downtime.</a:t>
            </a:r>
            <a:endParaRPr sz="14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Stakeholder Communication Matrix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Steering Committee (Monthly/Bi-Weekly):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DGE, Dept. of Finance, and Entity Leads for budget/ROI review.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Operational &amp; Functional Sync (Daily Sync):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BA, PO &amp; TPM to manage </a:t>
            </a:r>
            <a:r>
              <a:rPr i="1" lang="en" sz="1400">
                <a:solidFill>
                  <a:schemeClr val="dk1"/>
                </a:solidFill>
              </a:rPr>
              <a:t>Technical+Functional</a:t>
            </a:r>
            <a:r>
              <a:rPr lang="en" sz="1400">
                <a:solidFill>
                  <a:schemeClr val="dk1"/>
                </a:solidFill>
              </a:rPr>
              <a:t> blockers and sprint health.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Daily Standups(Squad):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Rapid tactical alignment within the 2-week Scrum cycles.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Change Management Process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714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Formal Impact Analysis: </a:t>
            </a:r>
            <a:endParaRPr b="1" sz="1400">
              <a:solidFill>
                <a:srgbClr val="333333"/>
              </a:solidFill>
            </a:endParaRPr>
          </a:p>
          <a:p>
            <a:pPr indent="-114300" lvl="0" marL="10858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Every scope request is evaluated against Timeline/Budget.</a:t>
            </a:r>
            <a:endParaRPr sz="1400">
              <a:solidFill>
                <a:srgbClr val="333333"/>
              </a:solidFill>
            </a:endParaRPr>
          </a:p>
          <a:p>
            <a:pPr indent="-114300" lvl="0" marL="1714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PO Approval: </a:t>
            </a:r>
            <a:endParaRPr b="1" sz="1400">
              <a:solidFill>
                <a:srgbClr val="333333"/>
              </a:solidFill>
            </a:endParaRPr>
          </a:p>
          <a:p>
            <a:pPr indent="-114300" lvl="0" marL="10858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All backlog changes must be prioritized by the Product Owner.</a:t>
            </a:r>
            <a:endParaRPr sz="1400">
              <a:solidFill>
                <a:srgbClr val="333333"/>
              </a:solidFill>
            </a:endParaRPr>
          </a:p>
          <a:p>
            <a:pPr indent="-114300" lvl="0" marL="1714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Scope Freeze: </a:t>
            </a:r>
            <a:endParaRPr b="1" sz="1400">
              <a:solidFill>
                <a:srgbClr val="333333"/>
              </a:solidFill>
            </a:endParaRPr>
          </a:p>
          <a:p>
            <a:pPr indent="-114300" lvl="0" marL="108585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No major logic changes 6 weeks prior to GITEX Phase 1.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Financial Management (AED 2.8M Cap)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• ALLOCATION: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75% Labor (12 FTE), 15% Cloud/GPU Compute, 10% Contingency Buffer.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• CONTROL: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No-cost-overrun policy; leveraging internal team expertise to avoid vendor hikes.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• ROI: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Targeted break even within 7 months post-Phase 3 deployment.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Risk Management &amp; Mitigation Plan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High Risk: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Data Quality Lag </a:t>
            </a:r>
            <a:r>
              <a:rPr lang="en" sz="1400">
                <a:solidFill>
                  <a:srgbClr val="333333"/>
                </a:solidFill>
              </a:rPr>
              <a:t>(Mitigated by early Data Sprints).</a:t>
            </a:r>
            <a:endParaRPr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Oracle Integration Downtime </a:t>
            </a:r>
            <a:r>
              <a:rPr lang="en" sz="1400">
                <a:solidFill>
                  <a:srgbClr val="333333"/>
                </a:solidFill>
              </a:rPr>
              <a:t>(Mitigated by Shadow API strategy).</a:t>
            </a:r>
            <a:endParaRPr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Scope Creep </a:t>
            </a:r>
            <a:r>
              <a:rPr lang="en" sz="1400">
                <a:solidFill>
                  <a:srgbClr val="333333"/>
                </a:solidFill>
              </a:rPr>
              <a:t>(Mitigated by a strict "MVP-First" approach for Phase 1).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Medium Risk: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Arabic NLP Accuracy </a:t>
            </a:r>
            <a:r>
              <a:rPr lang="en" sz="1400">
                <a:solidFill>
                  <a:srgbClr val="333333"/>
                </a:solidFill>
              </a:rPr>
              <a:t>(Mitigated by Hybrid Search tuning).</a:t>
            </a:r>
            <a:endParaRPr sz="1400">
              <a:solidFill>
                <a:srgbClr val="333333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Team Knowledge Gap </a:t>
            </a:r>
            <a:r>
              <a:rPr lang="en" sz="1400">
                <a:solidFill>
                  <a:srgbClr val="333333"/>
                </a:solidFill>
              </a:rPr>
              <a:t>(Mitigated by daily "Cross-Squad" knowledge transfers).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Financial KPIs (The ROI)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Budget Management: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AED 2.8M fixed-price implementation.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Procurement Savings: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Identifying redundant vendor contracts.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Labor Efficiency: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Redirecting manual labor to strategic sourcing.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Total Cost of Ownership: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Optimizing LLM token usage via RAG.</a:t>
            </a:r>
            <a:endParaRPr sz="14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KPIs (Performance)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508000" y="863550"/>
            <a:ext cx="8300700" cy="4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Response Time: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&lt;8 seconds for complex AI queries.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Accuracy: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&gt;95% success rate in Arabic NLP testing.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Uptime: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99.5% service availability SLA.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Data Refresh: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Real-time sync with Oracle Fusion Purchase Orders.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400">
                <a:solidFill>
                  <a:schemeClr val="dk1"/>
                </a:solidFill>
              </a:rPr>
              <a:t>Monitoring: </a:t>
            </a:r>
            <a:endParaRPr sz="1100">
              <a:solidFill>
                <a:schemeClr val="dk1"/>
              </a:solidFill>
            </a:endParaRPr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Arize Phoenix or LangSmith for real-time trace monitoring</a:t>
            </a:r>
            <a:endParaRPr sz="1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Gantt Chart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00" y="979100"/>
            <a:ext cx="8332202" cy="4012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831675" y="250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Part B: Technical Implementation</a:t>
            </a:r>
            <a:endParaRPr b="1"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Model Selection and Logic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508000" y="1005950"/>
            <a:ext cx="8636100" cy="40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The Model Decision:</a:t>
            </a:r>
            <a:r>
              <a:rPr lang="en" sz="1300">
                <a:solidFill>
                  <a:schemeClr val="dk1"/>
                </a:solidFill>
              </a:rPr>
              <a:t> Moving away from massive models (like GPT-4/Large Foundation) towards </a:t>
            </a:r>
            <a:r>
              <a:rPr b="1" lang="en" sz="1300">
                <a:solidFill>
                  <a:schemeClr val="dk1"/>
                </a:solidFill>
              </a:rPr>
              <a:t>Lighter Models (SLMs)</a:t>
            </a:r>
            <a:r>
              <a:rPr lang="en" sz="1300">
                <a:solidFill>
                  <a:schemeClr val="dk1"/>
                </a:solidFill>
              </a:rPr>
              <a:t> like </a:t>
            </a:r>
            <a:r>
              <a:rPr b="1" lang="en" sz="1300">
                <a:solidFill>
                  <a:schemeClr val="dk1"/>
                </a:solidFill>
              </a:rPr>
              <a:t>IBM Granite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Jais-30B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○"/>
            </a:pPr>
            <a:r>
              <a:rPr b="1" lang="en" sz="1300">
                <a:solidFill>
                  <a:srgbClr val="333333"/>
                </a:solidFill>
              </a:rPr>
              <a:t>Primary:  Jais-30B (Sovereign Arabic model) </a:t>
            </a:r>
            <a:r>
              <a:rPr lang="en" sz="1300">
                <a:solidFill>
                  <a:srgbClr val="333333"/>
                </a:solidFill>
              </a:rPr>
              <a:t>for local nuance (G42 &amp; MBZUAI) - Purpose-built for UAE Arabic. It understands "Sharia-compliant" procurement and local legal terminology that Western models hallucinate.</a:t>
            </a:r>
            <a:endParaRPr sz="1300">
              <a:solidFill>
                <a:srgbClr val="333333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○"/>
            </a:pPr>
            <a:r>
              <a:rPr b="1" lang="en" sz="1300">
                <a:solidFill>
                  <a:srgbClr val="333333"/>
                </a:solidFill>
              </a:rPr>
              <a:t>Secondary:  IBM Granite -</a:t>
            </a:r>
            <a:r>
              <a:rPr lang="en" sz="1300">
                <a:solidFill>
                  <a:srgbClr val="333333"/>
                </a:solidFill>
              </a:rPr>
              <a:t> Optimized for "Business Tasks" (RFP drafting, summarization). It is significantly cheaper to run and has a smaller memory footprint for sovereign hosting.</a:t>
            </a:r>
            <a:endParaRPr sz="1300">
              <a:solidFill>
                <a:srgbClr val="333333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Reasoning: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Cost:</a:t>
            </a:r>
            <a:r>
              <a:rPr lang="en" sz="1300">
                <a:solidFill>
                  <a:schemeClr val="dk1"/>
                </a:solidFill>
              </a:rPr>
              <a:t> Granite offers lower inference costs (AED/Token) for high-volume government tasks.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Latency:</a:t>
            </a:r>
            <a:r>
              <a:rPr lang="en" sz="1300">
                <a:solidFill>
                  <a:schemeClr val="dk1"/>
                </a:solidFill>
              </a:rPr>
              <a:t> Faster response times for procurement officers.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Accuracy:</a:t>
            </a:r>
            <a:r>
              <a:rPr lang="en" sz="1300">
                <a:solidFill>
                  <a:schemeClr val="dk1"/>
                </a:solidFill>
              </a:rPr>
              <a:t> Jais-30B is purpose-built for Arabic legal context; Granite is optimized for enterprise data extraction.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" sz="1300">
                <a:solidFill>
                  <a:schemeClr val="dk1"/>
                </a:solidFill>
              </a:rPr>
              <a:t>Sovereignty:</a:t>
            </a:r>
            <a:r>
              <a:rPr lang="en" sz="1300">
                <a:solidFill>
                  <a:schemeClr val="dk1"/>
                </a:solidFill>
              </a:rPr>
              <a:t> 100% Data Sovereignty on Azure UAE North.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</a:t>
            </a:r>
            <a:r>
              <a:rPr b="1" lang="en" sz="2600">
                <a:solidFill>
                  <a:srgbClr val="003366"/>
                </a:solidFill>
              </a:rPr>
              <a:t>Orchestration - LangGraph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508000" y="1005950"/>
            <a:ext cx="8636100" cy="40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Why LangGraph for Abu Dhabi Government?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State Management: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LangGraph excels at "persistence." If a procurement officer starts an RFP drafting session, leaves, and comes back 2 hours later, the Agent remembers exactly where it left off in the workflow.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Controlled Agency: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Unlike "autonomous" agents that can go off the rails, LangGraph allows you to define strict </a:t>
            </a:r>
            <a:r>
              <a:rPr b="1" lang="en" sz="1400">
                <a:solidFill>
                  <a:schemeClr val="dk1"/>
                </a:solidFill>
              </a:rPr>
              <a:t>flow control</a:t>
            </a:r>
            <a:r>
              <a:rPr lang="en" sz="1400">
                <a:solidFill>
                  <a:schemeClr val="dk1"/>
                </a:solidFill>
              </a:rPr>
              <a:t>. You can ensure the Agent </a:t>
            </a:r>
            <a:r>
              <a:rPr i="1" lang="en" sz="1400">
                <a:solidFill>
                  <a:schemeClr val="dk1"/>
                </a:solidFill>
              </a:rPr>
              <a:t>must</a:t>
            </a:r>
            <a:r>
              <a:rPr lang="en" sz="1400">
                <a:solidFill>
                  <a:schemeClr val="dk1"/>
                </a:solidFill>
              </a:rPr>
              <a:t> pass a "Compliance Check" node before it is allowed to reach the "Draft Finalized" node.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400">
                <a:solidFill>
                  <a:schemeClr val="dk1"/>
                </a:solidFill>
              </a:rPr>
              <a:t>Human-in-the-loop (HITL):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LangGraph has "interrupt" capabilities. The Agent can pause and wait for a human (the Procurement Officer) to approve a vendor selection before proceeding to the next step.</a:t>
            </a:r>
            <a:br>
              <a:rPr lang="en" sz="100">
                <a:solidFill>
                  <a:schemeClr val="dk1"/>
                </a:solidFill>
              </a:rPr>
            </a:br>
            <a:endParaRPr sz="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">
              <a:solidFill>
                <a:srgbClr val="333333"/>
              </a:solidFill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RAG &amp; Vector Strategy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8900" lvl="0" marL="571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 Vector Database: </a:t>
            </a:r>
            <a:endParaRPr b="1"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Azure AI Search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endParaRPr b="1" sz="1400">
              <a:solidFill>
                <a:schemeClr val="dk1"/>
              </a:solidFill>
            </a:endParaRPr>
          </a:p>
          <a:p>
            <a:pPr indent="-88900" lvl="0" marL="571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Index: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400050" lvl="0" marL="571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Storing 8 years of procurement history as high-dimensional vectors.</a:t>
            </a:r>
            <a:endParaRPr sz="1400">
              <a:solidFill>
                <a:schemeClr val="dk1"/>
              </a:solidFill>
            </a:endParaRPr>
          </a:p>
          <a:p>
            <a:pPr indent="-88900" lvl="0" marL="5715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 Retrieval: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400050" lvl="0" marL="5715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Using "Hybrid Search" to combine semantic meaning with legal keyword exact-matches.</a:t>
            </a:r>
            <a:endParaRPr sz="1400">
              <a:solidFill>
                <a:srgbClr val="333333"/>
              </a:solidFill>
            </a:endParaRPr>
          </a:p>
          <a:p>
            <a:pPr indent="-88900" lvl="0" marL="5715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 Guardrails: </a:t>
            </a:r>
            <a:endParaRPr b="1" sz="1400">
              <a:solidFill>
                <a:srgbClr val="333333"/>
              </a:solidFill>
            </a:endParaRPr>
          </a:p>
          <a:p>
            <a:pPr indent="400050" lvl="0" marL="5715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Hallucination filters ensuring every output is traceable to an source document.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Oracle Integration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508000" y="863550"/>
            <a:ext cx="8255100" cy="41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889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 </a:t>
            </a:r>
            <a:r>
              <a:rPr b="1" lang="en" sz="1400">
                <a:solidFill>
                  <a:srgbClr val="333333"/>
                </a:solidFill>
              </a:rPr>
              <a:t>Protocol: </a:t>
            </a:r>
            <a:endParaRPr b="1" sz="1400">
              <a:solidFill>
                <a:srgbClr val="333333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Utilizing Model Context Protocol (</a:t>
            </a:r>
            <a:r>
              <a:rPr b="1" lang="en" sz="1300">
                <a:solidFill>
                  <a:srgbClr val="333333"/>
                </a:solidFill>
              </a:rPr>
              <a:t>MCP</a:t>
            </a:r>
            <a:r>
              <a:rPr lang="en" sz="1300">
                <a:solidFill>
                  <a:srgbClr val="333333"/>
                </a:solidFill>
              </a:rPr>
              <a:t>) for secure, standardized tool-use.</a:t>
            </a:r>
            <a:endParaRPr sz="1300">
              <a:solidFill>
                <a:srgbClr val="333333"/>
              </a:solidFill>
            </a:endParaRPr>
          </a:p>
          <a:p>
            <a:pPr indent="-889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 </a:t>
            </a:r>
            <a:r>
              <a:rPr b="1" lang="en" sz="1400">
                <a:solidFill>
                  <a:srgbClr val="333333"/>
                </a:solidFill>
              </a:rPr>
              <a:t>Connectivity:  </a:t>
            </a:r>
            <a:endParaRPr b="1" sz="1400">
              <a:solidFill>
                <a:srgbClr val="333333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OCI-Azure Interconnect private link. </a:t>
            </a:r>
            <a:r>
              <a:rPr lang="en" sz="1300">
                <a:solidFill>
                  <a:srgbClr val="333333"/>
                </a:solidFill>
              </a:rPr>
              <a:t>MCP Servers provide the interface to Oracle Fusion REST APIs.</a:t>
            </a:r>
            <a:endParaRPr sz="1300">
              <a:solidFill>
                <a:srgbClr val="333333"/>
              </a:solidFill>
            </a:endParaRPr>
          </a:p>
          <a:p>
            <a:pPr indent="-88900" lvl="0" marL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 Data Flow: </a:t>
            </a:r>
            <a:endParaRPr b="1" sz="1400">
              <a:solidFill>
                <a:srgbClr val="333333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Bi-directional sync for Purchase Orders, Budget status, and Vendor Master data.</a:t>
            </a:r>
            <a:endParaRPr sz="1300">
              <a:solidFill>
                <a:srgbClr val="333333"/>
              </a:solidFill>
            </a:endParaRPr>
          </a:p>
          <a:p>
            <a:pPr indent="-88900" lvl="0" marL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 Latency: </a:t>
            </a:r>
            <a:endParaRPr b="1" sz="1400">
              <a:solidFill>
                <a:srgbClr val="333333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Sub-second data retrieval through optimized API handshakes.</a:t>
            </a:r>
            <a:endParaRPr sz="1300">
              <a:solidFill>
                <a:srgbClr val="333333"/>
              </a:solidFill>
            </a:endParaRPr>
          </a:p>
          <a:p>
            <a:pPr indent="-88900" lvl="0" marL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 Advantage</a:t>
            </a:r>
            <a:r>
              <a:rPr b="1" lang="en" sz="1400">
                <a:solidFill>
                  <a:srgbClr val="333333"/>
                </a:solidFill>
              </a:rPr>
              <a:t>: </a:t>
            </a:r>
            <a:endParaRPr b="1" sz="1400">
              <a:solidFill>
                <a:srgbClr val="333333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</a:rPr>
              <a:t>Decouples the AI from the API, allowing for modular updates and scaling.</a:t>
            </a:r>
            <a:endParaRPr sz="13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Security &amp; </a:t>
            </a:r>
            <a:r>
              <a:rPr b="1" lang="en" sz="2600">
                <a:solidFill>
                  <a:srgbClr val="003366"/>
                </a:solidFill>
              </a:rPr>
              <a:t>Compliance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Identity: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Seamless integration with UAE Pass for single-sign-on (SSO).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Security: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AES-256 Encryption at rest; TLS 1.3 in transit; Private Link access only.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Deployment &amp; Scaling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Containerization</a:t>
            </a:r>
            <a:r>
              <a:rPr lang="en" sz="1400">
                <a:solidFill>
                  <a:srgbClr val="333333"/>
                </a:solidFill>
              </a:rPr>
              <a:t>: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Using Kubernetes (AKS) to scale pods across 15+ entities.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Deployment: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Continuous Integration/Deployment (CI/CD) with Blue-Green strategies.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Performance: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Optimized for &lt;60s full document generation.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Technical Spec: High Level Architecture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21" name="Google Shape;221;p34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700" y="1093425"/>
            <a:ext cx="7304124" cy="388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831675" y="250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Part C: Risk Management and Problem Solving</a:t>
            </a:r>
            <a:endParaRPr b="1" sz="2600">
              <a:solidFill>
                <a:srgbClr val="00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29" name="Google Shape;229;p35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Scenario 1: The ERP Upgrade Crisis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Event:</a:t>
            </a:r>
            <a:r>
              <a:rPr lang="en" sz="1400">
                <a:solidFill>
                  <a:srgbClr val="333333"/>
                </a:solidFill>
              </a:rPr>
              <a:t>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Unplanned 6-week Oracle upgrade downtime during the dev phase.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Risk:</a:t>
            </a:r>
            <a:r>
              <a:rPr lang="en" sz="1400">
                <a:solidFill>
                  <a:srgbClr val="333333"/>
                </a:solidFill>
              </a:rPr>
              <a:t>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Threatens the October GITEX deadline and Phase 1 delivery.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37" name="Google Shape;237;p36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Scenario 1: Shadow API Resolution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• TPM Decision: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Decouple Phase 1 development from the live Oracle environment.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• Action: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Build a mock-API (Shadow API) using high-fidelity data snapshots.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</a:t>
            </a:r>
            <a:r>
              <a:rPr b="1" lang="en" sz="1400">
                <a:solidFill>
                  <a:srgbClr val="333333"/>
                </a:solidFill>
              </a:rPr>
              <a:t> OUTCOME: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AI brain development continues uninterrupted; </a:t>
            </a:r>
            <a:r>
              <a:rPr b="1" lang="en" sz="1400">
                <a:solidFill>
                  <a:srgbClr val="333333"/>
                </a:solidFill>
              </a:rPr>
              <a:t>GITEX launch is protected</a:t>
            </a:r>
            <a:r>
              <a:rPr lang="en" sz="1400">
                <a:solidFill>
                  <a:srgbClr val="333333"/>
                </a:solidFill>
              </a:rPr>
              <a:t>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45" name="Google Shape;245;p37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Scenario 2: The Arabic Accuracy Crisis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508000" y="1270000"/>
            <a:ext cx="8361900" cy="3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Event:</a:t>
            </a:r>
            <a:r>
              <a:rPr lang="en" sz="1400">
                <a:solidFill>
                  <a:srgbClr val="333333"/>
                </a:solidFill>
              </a:rPr>
              <a:t>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Arabic accuracy at 65% vs 95% target; Vendor requests + Budget increase by 40%</a:t>
            </a:r>
            <a:endParaRPr sz="1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300">
                <a:solidFill>
                  <a:srgbClr val="333333"/>
                </a:solidFill>
              </a:rPr>
              <a:t>Decision: </a:t>
            </a:r>
            <a:endParaRPr b="1" sz="13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Reject Vendor request to protect the AED 2.8M budget cap.</a:t>
            </a:r>
            <a:endParaRPr sz="12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</a:rPr>
              <a:t>Fiduciary Responsibility to protect government budget.</a:t>
            </a:r>
            <a:endParaRPr sz="1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33333"/>
                </a:solidFill>
              </a:rPr>
              <a:t>Optimization Strategy: 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Moving from Zero-Shot to </a:t>
            </a:r>
            <a:r>
              <a:rPr b="1" lang="en" sz="1200">
                <a:solidFill>
                  <a:schemeClr val="dk1"/>
                </a:solidFill>
              </a:rPr>
              <a:t>Few-Shot Prompting</a:t>
            </a:r>
            <a:r>
              <a:rPr lang="en" sz="1200">
                <a:solidFill>
                  <a:schemeClr val="dk1"/>
                </a:solidFill>
              </a:rPr>
              <a:t> using local high-quality legal templates.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333333"/>
                </a:solidFill>
              </a:rPr>
              <a:t>Technical Pivot: 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Implementing Semantic Re-ranking (Cohere/BGE) to ensure the RAG only retrieves the most relevant Abu Dhabi legal clauses.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53" name="Google Shape;253;p38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3366"/>
                </a:solidFill>
              </a:rPr>
              <a:t>Scenario 2: Prioritizing Budget Integrity &amp; Performance</a:t>
            </a:r>
            <a:endParaRPr b="1" sz="2400">
              <a:solidFill>
                <a:srgbClr val="003366"/>
              </a:solidFill>
            </a:endParaRPr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Action:</a:t>
            </a:r>
            <a:r>
              <a:rPr lang="en" sz="1400">
                <a:solidFill>
                  <a:srgbClr val="333333"/>
                </a:solidFill>
              </a:rPr>
              <a:t>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Pivot to internal Hybrid RAG tuning (Jais-30B) and Human-in-the-loop (HITL) review.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</a:t>
            </a:r>
            <a:r>
              <a:rPr b="1" lang="en" sz="1400">
                <a:solidFill>
                  <a:srgbClr val="333333"/>
                </a:solidFill>
              </a:rPr>
              <a:t> Viewpoint: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Internal expertise + Lighter models (SLM) solve accuracy without extra costs.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33333"/>
                </a:solidFill>
              </a:rPr>
              <a:t>• Outcome: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Phase 3 Go-Live remains on track for Q1 2026.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61" name="Google Shape;261;p39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Impact Assessment (Financial/Schedule)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68" name="Google Shape;268;p40"/>
          <p:cNvSpPr txBox="1"/>
          <p:nvPr>
            <p:ph idx="1" type="body"/>
          </p:nvPr>
        </p:nvSpPr>
        <p:spPr>
          <a:xfrm>
            <a:off x="508000" y="1270000"/>
            <a:ext cx="825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</a:t>
            </a:r>
            <a:r>
              <a:rPr b="1" lang="en" sz="1400">
                <a:solidFill>
                  <a:srgbClr val="333333"/>
                </a:solidFill>
              </a:rPr>
              <a:t> Schedule: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All Phase milestones (Oct, Dec, Mar) remain intact.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</a:t>
            </a:r>
            <a:r>
              <a:rPr b="1" lang="en" sz="1400">
                <a:solidFill>
                  <a:srgbClr val="333333"/>
                </a:solidFill>
              </a:rPr>
              <a:t> Budget: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 AED 2.8M limit maintained; Contingency used for in-house tuning.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69" name="Google Shape;269;p40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Mobilization: The First 30 Days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76" name="Google Shape;276;p41"/>
          <p:cNvSpPr txBox="1"/>
          <p:nvPr>
            <p:ph idx="1" type="body"/>
          </p:nvPr>
        </p:nvSpPr>
        <p:spPr>
          <a:xfrm>
            <a:off x="508000" y="1270000"/>
            <a:ext cx="8520600" cy="37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Week 1: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Team onboarding,Training &amp; Azure Infrastructure provisioning.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Week 2: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Oracle API discovery and 20% Data Quality audit.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Week 3: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Deployment of Sprint 0; Initiation of first Data Cleansing sprint.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• </a:t>
            </a:r>
            <a:r>
              <a:rPr b="1" lang="en" sz="1400">
                <a:solidFill>
                  <a:srgbClr val="333333"/>
                </a:solidFill>
              </a:rPr>
              <a:t>Week 4: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Completion of the environment setup and Development initiation.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Baseline 'RAG Answer Relevancy' score of &gt;70% on a sample of 100 historical RFP documents.</a:t>
            </a:r>
            <a:endParaRPr sz="1400">
              <a:solidFill>
                <a:srgbClr val="333333"/>
              </a:solidFill>
            </a:endParaRPr>
          </a:p>
        </p:txBody>
      </p:sp>
      <p:sp>
        <p:nvSpPr>
          <p:cNvPr id="277" name="Google Shape;277;p41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title"/>
          </p:nvPr>
        </p:nvSpPr>
        <p:spPr>
          <a:xfrm>
            <a:off x="508000" y="254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03366"/>
                </a:solidFill>
              </a:rPr>
              <a:t>Conclusion: Delivering the AI Factory</a:t>
            </a:r>
            <a:endParaRPr b="1" sz="2600">
              <a:solidFill>
                <a:srgbClr val="003366"/>
              </a:solidFill>
            </a:endParaRPr>
          </a:p>
        </p:txBody>
      </p:sp>
      <p:sp>
        <p:nvSpPr>
          <p:cNvPr id="284" name="Google Shape;284;p42"/>
          <p:cNvSpPr txBox="1"/>
          <p:nvPr>
            <p:ph idx="1" type="body"/>
          </p:nvPr>
        </p:nvSpPr>
        <p:spPr>
          <a:xfrm>
            <a:off x="508000" y="826700"/>
            <a:ext cx="8255100" cy="43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Commitment</a:t>
            </a:r>
            <a:r>
              <a:rPr lang="en" sz="1400">
                <a:solidFill>
                  <a:srgbClr val="333333"/>
                </a:solidFill>
              </a:rPr>
              <a:t>:</a:t>
            </a:r>
            <a:r>
              <a:rPr lang="en" sz="1400">
                <a:solidFill>
                  <a:srgbClr val="333333"/>
                </a:solidFill>
              </a:rPr>
              <a:t>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On-time, on-budget delivery of a sovereign AI ecosystem.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Vision</a:t>
            </a:r>
            <a:r>
              <a:rPr lang="en" sz="1400">
                <a:solidFill>
                  <a:srgbClr val="333333"/>
                </a:solidFill>
              </a:rPr>
              <a:t>: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Positioning the Abu Dhabi Government as a global leader in AI-driven operations.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Call to Action / Next Step</a:t>
            </a:r>
            <a:r>
              <a:rPr lang="en" sz="1400">
                <a:solidFill>
                  <a:srgbClr val="333333"/>
                </a:solidFill>
              </a:rPr>
              <a:t>: </a:t>
            </a:r>
            <a:endParaRPr sz="1400">
              <a:solidFill>
                <a:srgbClr val="333333"/>
              </a:solidFill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Immediate mobilization for April 1st start date.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en" sz="1400">
                <a:solidFill>
                  <a:srgbClr val="333333"/>
                </a:solidFill>
              </a:rPr>
              <a:t>Future Outlook (Phase 4): </a:t>
            </a:r>
            <a:endParaRPr b="1" sz="1400">
              <a:solidFill>
                <a:srgbClr val="333333"/>
              </a:solidFill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</a:rPr>
              <a:t>Expanding to a 'Self-Service Vendor Portal' where vendors use AI to verify their own compliance before submission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85" name="Google Shape;285;p42"/>
          <p:cNvSpPr/>
          <p:nvPr/>
        </p:nvSpPr>
        <p:spPr>
          <a:xfrm>
            <a:off x="0" y="0"/>
            <a:ext cx="254100" cy="5143500"/>
          </a:xfrm>
          <a:prstGeom prst="rect">
            <a:avLst/>
          </a:prstGeom>
          <a:solidFill>
            <a:srgbClr val="005B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